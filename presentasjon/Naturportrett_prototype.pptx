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FFFFFF"/>
                </a:solidFill>
                <a:latin typeface="Oslo Sans"/>
              </a:rPr>
              <a:t>Naturportrett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3F5FF"/>
                </a:solidFill>
                <a:latin typeface="Oslo Sans"/>
              </a:rPr>
              <a:t>KI-drevet vurdering av biologisk mangfold i Oslo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70048"/>
            <a:ext cx="2286000" cy="64008"/>
          </a:xfrm>
          <a:prstGeom prst="rect">
            <a:avLst/>
          </a:prstGeom>
          <a:solidFill>
            <a:srgbClr val="43F8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B3F5FF"/>
                </a:solidFill>
                <a:latin typeface="Oslo Sans"/>
              </a:rPr>
              <a:t>Prototype • Plan- og bygningsetaten • Mai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Oslo Sans"/>
              </a:rPr>
              <a:t>Andreas Fadum Haugstad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Hvorfor Naturportrett?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563727" y="219456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9487" y="25603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A2859"/>
                </a:solidFill>
                <a:latin typeface="Oslo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487" y="31546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2A2859"/>
                </a:solidFill>
                <a:latin typeface="Oslo Sans"/>
              </a:rPr>
              <a:t>Tidlig naturhensyn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487" y="379476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Plan- og byggesaker krever vurdering av biologisk mangfold tidlig — før det blir kostbart å endre kurs.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207" y="219456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69967" y="25603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A2859"/>
                </a:solidFill>
                <a:latin typeface="Oslo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9967" y="31546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2A2859"/>
                </a:solidFill>
                <a:latin typeface="Oslo Sans"/>
              </a:rPr>
              <a:t>Fragmentert kunnskap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9967" y="379476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Informasjon ligger spredt på Artsdatabanken, iNaturalist, GBIF, kommunale rapporter og lovverk. Tidkrevende å samle.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4687" y="219456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0447" y="25603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2A2859"/>
                </a:solidFill>
                <a:latin typeface="Oslo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0447" y="315468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2A2859"/>
                </a:solidFill>
                <a:latin typeface="Oslo Sans"/>
              </a:rPr>
              <a:t>KI sammenstiller raskt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0447" y="3794760"/>
            <a:ext cx="2651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KI kan på sekunder lese flere kilder og levere et strukturert utgangspunkt som fagperson kvalitetssikrer.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De fire produktene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Et naturportrett er hovedproduktet — de tre andre er detaljutdypninger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78027" y="2011680"/>
            <a:ext cx="24688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347" y="242316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0" i="0">
                <a:solidFill>
                  <a:srgbClr val="2A2859"/>
                </a:solidFill>
                <a:latin typeface="Oslo Sans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347" y="33832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A2859"/>
                </a:solidFill>
                <a:latin typeface="Oslo Sans"/>
              </a:rPr>
              <a:t>Naturportrett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347" y="3886199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Områdeoversikt: kart, viktige arter, naturtyper, økologiske sammenhenger, trusler.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6947" y="2011680"/>
            <a:ext cx="24688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1267" y="242316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0" i="0">
                <a:solidFill>
                  <a:srgbClr val="2A2859"/>
                </a:solidFill>
                <a:latin typeface="Oslo Sans"/>
              </a:rPr>
              <a:t>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1267" y="33832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A2859"/>
                </a:solidFill>
                <a:latin typeface="Oslo Sans"/>
              </a:rPr>
              <a:t>Naturtypeportrett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1267" y="3886199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Detaljert beskrivelse av en konkret naturtype (NiN-kode), inkl. typiske arter og hensyn.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2011680"/>
            <a:ext cx="24688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187" y="242316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0" i="0">
                <a:solidFill>
                  <a:srgbClr val="2A2859"/>
                </a:solidFill>
                <a:latin typeface="Oslo Sans"/>
              </a:rPr>
              <a:t>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187" y="33832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A2859"/>
                </a:solidFill>
                <a:latin typeface="Oslo Sans"/>
              </a:rPr>
              <a:t>Artsportrett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0187" y="3886199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Detaljert dyreportrett: levevis, årssyklus, næringskilder, designtiltak.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4787" y="2011680"/>
            <a:ext cx="24688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19107" y="242316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0" i="0">
                <a:solidFill>
                  <a:srgbClr val="2A2859"/>
                </a:solidFill>
                <a:latin typeface="Oslo Sans"/>
              </a:rPr>
              <a:t>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9107" y="33832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A2859"/>
                </a:solidFill>
                <a:latin typeface="Oslo Sans"/>
              </a:rPr>
              <a:t>Planteportrett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9107" y="3886199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Detaljert planteportrett: habitatkrav, pollinator-verdi, samplanting, erfaring i Norge.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555555"/>
                </a:solidFill>
                <a:latin typeface="Oslo Sans"/>
              </a:rPr>
              <a:t>Et naturportrett kan inneholde flere naturtyper, arter og planter — som hver kan få sitt eget detaljerte portrett.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Hva inneholder et portrett?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Eksempel: oppbygning av et artsportrett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71600" y="1920240"/>
            <a:ext cx="941832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1488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2A2859"/>
                </a:solidFill>
                <a:latin typeface="Oslo Sans"/>
              </a:rPr>
              <a:t>Artsportrett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21945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17. mai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2788920"/>
            <a:ext cx="29260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20" y="289864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C2C2C"/>
                </a:solidFill>
                <a:latin typeface="Oslo Sans"/>
              </a:rPr>
              <a:t>Folkenavn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3566160"/>
            <a:ext cx="292608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367588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2C2C2C"/>
                </a:solidFill>
                <a:latin typeface="Oslo Sans"/>
              </a:rPr>
              <a:t>Vitenskapelig navn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788920"/>
            <a:ext cx="17373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8803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C2C2C"/>
                </a:solidFill>
                <a:latin typeface="Oslo Sans"/>
              </a:rPr>
              <a:t>Rødliste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74720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9C66B"/>
                </a:solidFill>
                <a:latin typeface="Oslo Sans"/>
              </a:rPr>
              <a:t>VU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78892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8F0DD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555555"/>
                </a:solidFill>
                <a:latin typeface="Oslo Sans"/>
              </a:rPr>
              <a:t>[Foto av arten]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4343400"/>
            <a:ext cx="48920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20" y="445312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Karakteristikker — artsfamilie · utbredelse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5120640"/>
            <a:ext cx="4160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20" y="523036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Beskrivelse — størrelse, farger, kjønnsforskjeller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5120640"/>
            <a:ext cx="434340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5230368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C2C2C"/>
                </a:solidFill>
                <a:latin typeface="Oslo Sans"/>
              </a:rPr>
              <a:t>Foretrukne habitater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2648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555555"/>
                </a:solidFill>
                <a:latin typeface="Oslo Sans"/>
              </a:rPr>
              <a:t>Portrettet har også årssyklus, næringskilder, attributter (nøkkelart/ansvarsart) og praktiske designtiltak.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Brukerflyt — fem steg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Fra adresse til ferdig portrett klart for nedlasting som PDF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52350" y="2377440"/>
            <a:ext cx="18745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23849" y="265176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790" y="3611880"/>
            <a:ext cx="1691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Adresse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54301.0" y="3383280.0"/>
            <a:ext cx="173736.0" cy="0.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55469" y="2377440"/>
            <a:ext cx="18745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26968" y="265176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6909" y="3611880"/>
            <a:ext cx="1691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Naturportrett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57420.0" y="3383280.0"/>
            <a:ext cx="173736.0" cy="0.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58588" y="2377440"/>
            <a:ext cx="18745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30087" y="265176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0028" y="3611880"/>
            <a:ext cx="1691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Velg portrettype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60539.0" y="3383280.0"/>
            <a:ext cx="173736.0" cy="0.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61707" y="2377440"/>
            <a:ext cx="18745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33206" y="265176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3147" y="3611880"/>
            <a:ext cx="1691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Velg subjekt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63658.0" y="3383280.0"/>
            <a:ext cx="173736.0" cy="0.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64826" y="2377440"/>
            <a:ext cx="1874519" cy="201168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36325" y="265176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6266" y="3611880"/>
            <a:ext cx="1691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Detaljportrett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555555"/>
                </a:solidFill>
                <a:latin typeface="Oslo Sans"/>
              </a:rPr>
              <a:t>↻  Brukeren kan generere flere detaljportretter for samme adresse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Slik fungerer adressesøket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Brukeren søker etter en adresse i Oslo og får automatiske forslag fra Kartverket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828800"/>
            <a:ext cx="10911535" cy="4572000"/>
          </a:xfrm>
          <a:prstGeom prst="roundRect">
            <a:avLst>
              <a:gd name="adj" fmla="val 6000"/>
            </a:avLst>
          </a:prstGeom>
          <a:solidFill>
            <a:srgbClr val="F8F0DD"/>
          </a:solidFill>
          <a:ln w="1270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9971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555555"/>
                </a:solidFill>
                <a:latin typeface="Oslo Sans"/>
              </a:rPr>
              <a:t>Lagre skjermbilde her: presentasjon/skjermbilder/01_adresse.png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Slik ser naturportrettet 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Områdeoversikt med kart, naturtyper, arter og tekstlige seksjoner — Vahls gate 1, Oslo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828800"/>
            <a:ext cx="10911535" cy="4572000"/>
          </a:xfrm>
          <a:prstGeom prst="roundRect">
            <a:avLst>
              <a:gd name="adj" fmla="val 6000"/>
            </a:avLst>
          </a:prstGeom>
          <a:solidFill>
            <a:srgbClr val="F8F0DD"/>
          </a:solidFill>
          <a:ln w="1270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9971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555555"/>
                </a:solidFill>
                <a:latin typeface="Oslo Sans"/>
              </a:rPr>
              <a:t>Lagre skjermbilde her: presentasjon/skjermbilder/02_naturportrett.png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Bak kulissene — tre lag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Hva som skjer fra knappen blir trykket til portrettet vises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66647" y="219456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18207" y="2606040"/>
            <a:ext cx="822960" cy="82296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Osl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0967" y="36118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A2859"/>
                </a:solidFill>
                <a:latin typeface="Oslo Sans"/>
              </a:rPr>
              <a:t>Nettleser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416052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Det brukeren ser:
adresse-søk, kart, portretter, knapper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65879.5" y="3749040.0"/>
            <a:ext cx="493776.0" cy="0.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32807" y="219456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84367" y="2606040"/>
            <a:ext cx="822960" cy="82296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Oslo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7127" y="36118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A2859"/>
                </a:solidFill>
                <a:latin typeface="Oslo Sans"/>
              </a:rPr>
              <a:t>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416052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Henter data fra åpne kilder, snakker med KI, formaterer resultatet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32039.5" y="3749040.0"/>
            <a:ext cx="493776.0" cy="0.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98967" y="2194560"/>
            <a:ext cx="29260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50527" y="2606040"/>
            <a:ext cx="822960" cy="82296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</a:pPr>
            <a:r>
              <a:rPr sz="2800" b="1" i="0">
                <a:solidFill>
                  <a:srgbClr val="FFFFFF"/>
                </a:solidFill>
                <a:latin typeface="Oslo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287" y="36118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A2859"/>
                </a:solidFill>
                <a:latin typeface="Oslo Sans"/>
              </a:rPr>
              <a:t>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3287" y="4160520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Skriver portretttekst basert på dataene som leveres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555555"/>
                </a:solidFill>
                <a:latin typeface="Oslo Sans"/>
              </a:rPr>
              <a:t>Hemmelig informasjon (som tilgangsnøkler) ligger kun på serveren — aldri synlig i nettleseren.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Datakilder i prototypen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Hvor informasjonen kommer fra — og hva som er gratis vs. betalt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907127" y="393192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Oslo Sans"/>
              </a:rPr>
              <a:t>Naturportrett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A2859"/>
                </a:solidFill>
                <a:latin typeface="Oslo Sans"/>
              </a:rPr>
              <a:t>Kartverket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8716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2C2C2C"/>
                </a:solidFill>
                <a:latin typeface="Oslo Sans"/>
              </a:rPr>
              <a:t>adresse, koordinater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614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034B45"/>
                </a:solidFill>
                <a:latin typeface="Oslo Sans"/>
              </a:rPr>
              <a:t>(gratis)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606040.0"/>
            <a:ext cx="2163927.5" cy="1783080.0"/>
          </a:xfrm>
          <a:prstGeom prst="line">
            <a:avLst/>
          </a:prstGeom>
          <a:ln w="2286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37760" y="210312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19456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A2859"/>
                </a:solidFill>
                <a:latin typeface="Oslo Sans"/>
              </a:rPr>
              <a:t>iNaturalist + GBIF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48716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2C2C2C"/>
                </a:solidFill>
                <a:latin typeface="Oslo Sans"/>
              </a:rPr>
              <a:t>arter, foto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7614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034B45"/>
                </a:solidFill>
                <a:latin typeface="Oslo Sans"/>
              </a:rPr>
              <a:t>(gratis)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.0" y="3108960"/>
            <a:ext cx="15087.5" cy="822960"/>
          </a:xfrm>
          <a:prstGeom prst="line">
            <a:avLst/>
          </a:prstGeom>
          <a:ln w="2286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18320" y="210312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219456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A2859"/>
                </a:solidFill>
                <a:latin typeface="Oslo Sans"/>
              </a:rPr>
              <a:t>Artsdatabanken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48716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2C2C2C"/>
                </a:solidFill>
                <a:latin typeface="Oslo Sans"/>
              </a:rPr>
              <a:t>rødliste, fremmedarts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7614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034B45"/>
                </a:solidFill>
                <a:latin typeface="Oslo Sans"/>
              </a:rPr>
              <a:t>(gratis)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284567.5" y="2606040.0"/>
            <a:ext cx="2133752.5" cy="1783080.0"/>
          </a:xfrm>
          <a:prstGeom prst="line">
            <a:avLst/>
          </a:prstGeom>
          <a:ln w="2286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530352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A2859"/>
                </a:solidFill>
                <a:latin typeface="Oslo Sans"/>
              </a:rPr>
              <a:t>OpenStreetMap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8756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2C2C2C"/>
                </a:solidFill>
                <a:latin typeface="Oslo Sans"/>
              </a:rPr>
              <a:t>bakgrunnskart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618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034B45"/>
                </a:solidFill>
                <a:latin typeface="Oslo Sans"/>
              </a:rPr>
              <a:t>(gratis)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743200" y="4389120.0"/>
            <a:ext cx="2163927.5" cy="1417320.0"/>
          </a:xfrm>
          <a:prstGeom prst="line">
            <a:avLst/>
          </a:prstGeom>
          <a:ln w="2286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18320" y="530352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F8F0DD"/>
          </a:solidFill>
          <a:ln w="19050">
            <a:solidFill>
              <a:srgbClr val="F9C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539496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A2859"/>
                </a:solidFill>
                <a:latin typeface="Oslo Sans"/>
              </a:rPr>
              <a:t>KI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568756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2C2C2C"/>
                </a:solidFill>
                <a:latin typeface="Oslo Sans"/>
              </a:rPr>
              <a:t>sammenstiller informasjonen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59618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2C2C2C"/>
                </a:solidFill>
                <a:latin typeface="Oslo Sans"/>
              </a:rPr>
              <a:t>(betalt)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7284567.5" y="4389120.0"/>
            <a:ext cx="2133752.5" cy="1417320.0"/>
          </a:xfrm>
          <a:prstGeom prst="line">
            <a:avLst/>
          </a:prstGeom>
          <a:ln w="2286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640080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555555"/>
                </a:solidFill>
                <a:latin typeface="Oslo Sans"/>
              </a:rPr>
              <a:t>Alle datakilder unntatt KI er gratis offentlige tjenester. KI er den eneste betalte tjenesten — koster &lt; 0,15 USD per komplett sesjon.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Hva gjør KI — og hva gjør den ikke?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Det er viktig å forstå hva systemet kan og ikke kan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29487" y="2103120"/>
            <a:ext cx="49377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247" y="23774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34B45"/>
                </a:solidFill>
                <a:latin typeface="Oslo Sans"/>
              </a:rPr>
              <a:t>✓  GJØR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247" y="3017520"/>
            <a:ext cx="4206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Sammenstiller informasjon fra dataene den får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Skriver strukturert tekst med faste seksjoner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Følger Oslo kommunes naturmangfoldsstrategi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Foreslår praktiske designtiltak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Holder konsistent struktur uansett område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103120"/>
            <a:ext cx="49377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0207" y="23774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0BFAE"/>
                </a:solidFill>
                <a:latin typeface="Oslo Sans"/>
              </a:rPr>
              <a:t>✗  GJØR IKKE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0207" y="3017520"/>
            <a:ext cx="4206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Søker ikke selv etter ny informasjon på nett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Verifiserer ikke fakta mot offisielle databaser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Kan av og til hallusinere detaljer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Erstatter ikke fagperson — er et utgangspunkt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Tar ikke høyde for siste års endringer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943600"/>
            <a:ext cx="10911535" cy="502920"/>
          </a:xfrm>
          <a:prstGeom prst="roundRect">
            <a:avLst>
              <a:gd name="adj" fmla="val 6000"/>
            </a:avLst>
          </a:prstGeom>
          <a:solidFill>
            <a:srgbClr val="F8F0DD"/>
          </a:solidFill>
          <a:ln w="1270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Alle portretter må kvalitetssikres av fagperson før bruk i saksbehandling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Veikart — flere datakilder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Slik kan prototypen vokse. Hver ny kilde gir bedre presisjon.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66647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34B45"/>
                </a:solidFill>
                <a:latin typeface="Oslo Sans"/>
              </a:rPr>
              <a:t>Allerede på plass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555555"/>
                </a:solidFill>
                <a:latin typeface="Oslo Sans"/>
              </a:rPr>
              <a:t>Foreslåtte fremtidige kilder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647" y="246888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524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0967" y="258775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34B45"/>
                </a:solidFill>
                <a:latin typeface="Oslo Sans"/>
              </a:rPr>
              <a:t>✓   Kartverket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6647" y="310896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524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0967" y="322783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34B45"/>
                </a:solidFill>
                <a:latin typeface="Oslo Sans"/>
              </a:rPr>
              <a:t>✓   iNaturalist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6647" y="374904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524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0967" y="386791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34B45"/>
                </a:solidFill>
                <a:latin typeface="Oslo Sans"/>
              </a:rPr>
              <a:t>✓   GBIF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6647" y="438912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524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0967" y="45079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34B45"/>
                </a:solidFill>
                <a:latin typeface="Oslo Sans"/>
              </a:rPr>
              <a:t>✓   OpenStreetMap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6647" y="502920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524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0967" y="514807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34B45"/>
                </a:solidFill>
                <a:latin typeface="Oslo Sans"/>
              </a:rPr>
              <a:t>✓   Artsdatabanken (statisk)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0167" y="246888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4487" y="258775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○   Artsdatabanken API (live)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0167" y="310896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4487" y="322783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○   NiN-systemet (naturtyper)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0167" y="374904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4487" y="386791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○   Norge i bilder (ortofoto)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167" y="438912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4487" y="450799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○   Miljødirektoratet (vern, vilt)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70167" y="502920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4487" y="514807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○   Plankart Oslo / FKB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0167" y="5669280"/>
            <a:ext cx="475488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4487" y="578815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○   MGS Oslo (kommunale data)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Hva er RAG — og hvorfor trenger vi det?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RAG = Retrieval-Augmented Generation • å hente kunnskap før KI svarer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20927" y="2103120"/>
            <a:ext cx="48463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6687" y="23774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A2859"/>
                </a:solidFill>
                <a:latin typeface="Oslo Sans"/>
              </a:rPr>
              <a:t>Uten RAG (dagens prototype)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6687" y="301752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Svarer fra det KI «husker» fra treningen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Ikke alltid oppdatert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2C2C2C"/>
                </a:solidFill>
                <a:latin typeface="Oslo Sans"/>
              </a:rPr>
              <a:t>•  Vi ser ikke hvor påstander kommer fra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103120"/>
            <a:ext cx="4846320" cy="292608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905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0207" y="23774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34B45"/>
                </a:solidFill>
                <a:latin typeface="Oslo Sans"/>
              </a:rPr>
              <a:t>Med RAG (foreslått neste steg)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0207" y="301752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Henter fra Oslo kommunes egne dokumenter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Alltid oppdatert når dokumentbasen oppdateres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034B45"/>
                </a:solidFill>
                <a:latin typeface="Oslo Sans"/>
              </a:rPr>
              <a:t>•  Hver påstand har sporbar kildehenvisning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486400"/>
            <a:ext cx="10911535" cy="640080"/>
          </a:xfrm>
          <a:prstGeom prst="roundRect">
            <a:avLst>
              <a:gd name="adj" fmla="val 6000"/>
            </a:avLst>
          </a:prstGeom>
          <a:solidFill>
            <a:srgbClr val="F8F0DD"/>
          </a:solidFill>
          <a:ln w="12700">
            <a:solidFill>
              <a:srgbClr val="D0B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 wrap="square"/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2C2C2C"/>
                </a:solidFill>
                <a:latin typeface="Oslo Sans"/>
              </a:rPr>
              <a:t>Eksempel: «Hva sier Veileder Biotoptak om grønne tak?»  →  RAG slår opp svaret direkte i PDFen.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Slik vil RAG fungere for Naturportrett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Fem trinn fra Oslo kommunes dokumenter til kildebelagt portrett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69470" y="2103120"/>
            <a:ext cx="1874519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6630" y="2423160"/>
            <a:ext cx="1600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Kunnskaps-
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6630" y="3291840"/>
            <a:ext cx="1600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C2C2C"/>
                </a:solidFill>
                <a:latin typeface="Oslo Sans"/>
              </a:rPr>
              <a:t>PDFer, veiledere,
Oslo-rapporter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89709.0" y="3200400.0"/>
            <a:ext cx="228600.0" cy="0.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64029" y="2103120"/>
            <a:ext cx="1874519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1189" y="2423160"/>
            <a:ext cx="1600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Indeksering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1189" y="3291840"/>
            <a:ext cx="1600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C2C2C"/>
                </a:solidFill>
                <a:latin typeface="Oslo Sans"/>
              </a:rPr>
              <a:t>Deler tekst i biter
for søk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84268.0" y="3200400.0"/>
            <a:ext cx="228600.0" cy="0.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58588" y="2103120"/>
            <a:ext cx="1874519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95748" y="2423160"/>
            <a:ext cx="1600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Søkemotor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5748" y="3291840"/>
            <a:ext cx="1600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C2C2C"/>
                </a:solidFill>
                <a:latin typeface="Oslo Sans"/>
              </a:rPr>
              <a:t>Finner relevante
biter ved spørring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78827.0" y="3200400.0"/>
            <a:ext cx="228600.0" cy="0.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53147" y="2103120"/>
            <a:ext cx="1874519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0307" y="2423160"/>
            <a:ext cx="1600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A2859"/>
                </a:solidFill>
                <a:latin typeface="Oslo Sans"/>
              </a:rPr>
              <a:t>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0307" y="3291840"/>
            <a:ext cx="1600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C2C2C"/>
                </a:solidFill>
                <a:latin typeface="Oslo Sans"/>
              </a:rPr>
              <a:t>Skriver svar med
bitene som grunnlag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73386.0" y="3200400.0"/>
            <a:ext cx="228600.0" cy="0.0"/>
          </a:xfrm>
          <a:prstGeom prst="line">
            <a:avLst/>
          </a:prstGeom>
          <a:ln w="25400">
            <a:solidFill>
              <a:srgbClr val="2A28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47706" y="2103120"/>
            <a:ext cx="1874519" cy="2194560"/>
          </a:xfrm>
          <a:prstGeom prst="roundRect">
            <a:avLst>
              <a:gd name="adj" fmla="val 6000"/>
            </a:avLst>
          </a:prstGeom>
          <a:solidFill>
            <a:srgbClr val="C7F6C9"/>
          </a:solidFill>
          <a:ln w="19050">
            <a:solidFill>
              <a:srgbClr val="03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84866" y="2423160"/>
            <a:ext cx="1600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34B45"/>
                </a:solidFill>
                <a:latin typeface="Oslo Sans"/>
              </a:rPr>
              <a:t>Portrett
m/ kilder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4866" y="3291840"/>
            <a:ext cx="1600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C2C2C"/>
                </a:solidFill>
                <a:latin typeface="Oslo Sans"/>
              </a:rPr>
              <a:t>Sporbart per
påstand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37760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7492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Oslo Sans"/>
              </a:rPr>
              <a:t>Verdien for Oslo kommune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4068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F5FF"/>
                </a:solidFill>
                <a:latin typeface="Oslo Sans"/>
              </a:rPr>
              <a:t>Hver påstand kan lenkes tilbake til en konkret rapport eller veileder.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Mulige tiltak for mer presisjon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Tre retninger vi kan utforske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201168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33172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9456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2A2859"/>
                </a:solidFill>
                <a:latin typeface="Oslo Sans"/>
              </a:rPr>
              <a:t>Mer presise områder på kartet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606040"/>
            <a:ext cx="94484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I stedet for en enkel 500 m sirkel: bruk faktiske eiendomsgrenser, registrerte naturtyper og reguleringsformål for å avgjøre hva som er innenfor prosjektet.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388620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74904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2A2859"/>
                </a:solidFill>
                <a:latin typeface="Oslo Sans"/>
              </a:rPr>
              <a:t>Direkte oppslag i offentlige databaser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160520"/>
            <a:ext cx="94484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I tillegg til RAG (som henter fra dokumenter), kan systemet hente sanntidsfakta direkte fra Artsdatabanken og kommunens registre. F.eks. «hva er dagens rødlistestatus for spisslønn?» — svar fra databasen, ikke fra KIs hukommelse.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20640"/>
            <a:ext cx="10911535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A28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5440680"/>
            <a:ext cx="731520" cy="731520"/>
          </a:xfrm>
          <a:prstGeom prst="ellipse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Oslo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30352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2A2859"/>
                </a:solidFill>
                <a:latin typeface="Oslo Sans"/>
              </a:rPr>
              <a:t>Fagvurdering integrert i flyten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715000"/>
            <a:ext cx="94484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C2C2C"/>
                </a:solidFill>
                <a:latin typeface="Oslo Sans"/>
              </a:rPr>
              <a:t>Knapp for «godkjent av fagperson», redigeringsverktøy, og visuell flagging av usikre påstander.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2A2859"/>
                </a:solidFill>
                <a:latin typeface="Oslo Sans"/>
              </a:rPr>
              <a:t>Spørsmål vi bør drøfte med UKE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555"/>
                </a:solidFill>
                <a:latin typeface="Oslo Sans"/>
              </a:rPr>
              <a:t>Når vi senere vurderer implementering i Oslo kommunes systemer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10911535" cy="0"/>
          </a:xfrm>
          <a:prstGeom prst="line">
            <a:avLst/>
          </a:prstGeom>
          <a:ln w="9525">
            <a:solidFill>
              <a:srgbClr val="D0B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Oslo Sans"/>
              </a:rPr>
              <a:t>•  Hvilken sky/infrastruktur passer best for denne typen tjenester?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Oslo Sans"/>
              </a:rPr>
              <a:t>•  Hvordan integrere med eksisterende saksbehandlersystemer?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Oslo Sans"/>
              </a:rPr>
              <a:t>•  Hvilken pålogging er aktuelt (saksbehandlere vs. eksterne brukere)?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Oslo Sans"/>
              </a:rPr>
              <a:t>•  Hvordan håndtere drift, oppetid og support?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Oslo Sans"/>
              </a:rPr>
              <a:t>•  Hva er sikkerhetskravene for KI-baserte verktøy i kommunen?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>
                <a:solidFill>
                  <a:srgbClr val="2C2C2C"/>
                </a:solidFill>
                <a:latin typeface="Oslo Sans"/>
              </a:rPr>
              <a:t>•  Hvilke krav stilles til logging og sporbarhet?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55555"/>
                </a:solidFill>
                <a:latin typeface="Oslo Sans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FFFFFF"/>
                </a:solidFill>
                <a:latin typeface="Oslo Sans"/>
              </a:rPr>
              <a:t>Veien videre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828800" cy="64008"/>
          </a:xfrm>
          <a:prstGeom prst="rect">
            <a:avLst/>
          </a:prstGeom>
          <a:solidFill>
            <a:srgbClr val="43F8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3F8B6"/>
                </a:solidFill>
                <a:latin typeface="Oslo Sans"/>
              </a:rPr>
              <a:t>Fase 1  •  Juli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3F5FF"/>
                </a:solidFill>
                <a:latin typeface="Oslo Sans"/>
              </a:rPr>
              <a:t>Jeg jobber videre med prototypen: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Oslo Sans"/>
              </a:rPr>
              <a:t>•  Bygge RAG-systemet — sporbarhet og bedre presisjon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Oslo Sans"/>
              </a:rPr>
              <a:t>•  Integrere flere datakilder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Oslo Sans"/>
              </a:rPr>
              <a:t>•  Forbedre format på produktet (PDF, sidelayout)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Oslo Sans"/>
              </a:rPr>
              <a:t>•  Diskutere om vi skal gjennomføre brukertesting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3F8B6"/>
                </a:solidFill>
                <a:latin typeface="Oslo Sans"/>
              </a:rPr>
              <a:t>Fase 2  •  Etter sommeren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3F5FF"/>
                </a:solidFill>
                <a:latin typeface="Oslo Sans"/>
              </a:rPr>
              <a:t>Møte med UKE for å drøfte: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Oslo Sans"/>
              </a:rPr>
              <a:t>•  Implementering i Oslo kommunes systemer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>
                <a:solidFill>
                  <a:srgbClr val="FFFFFF"/>
                </a:solidFill>
                <a:latin typeface="Oslo Sans"/>
              </a:rPr>
              <a:t>•  Alternativt: UKE bygger systemet, og denne prototypen tjener som skisse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Oslo Sans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